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Comfortaa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Comfortaa-bold.fntdata"/><Relationship Id="rId27" Type="http://schemas.openxmlformats.org/officeDocument/2006/relationships/font" Target="fonts/Comforta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2e65c143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2e65c14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2e65c143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g3b2e65c1436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2e65c143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g3b2e65c1436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2e65c143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g3b2e65c1436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2e65c1436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g3b2e65c1436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b2e65c1436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5" name="Google Shape;425;g3b2e65c1436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2e65c1436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4" name="Google Shape;454;g3b2e65c1436_0_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3" name="Google Shape;48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2e65c1436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1" name="Google Shape;521;g3b2e65c1436_0_2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9" name="Google Shape;5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idx="1" type="subTitle"/>
          </p:nvPr>
        </p:nvSpPr>
        <p:spPr>
          <a:xfrm>
            <a:off x="4729025" y="4416250"/>
            <a:ext cx="8646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572850" y="5848020"/>
            <a:ext cx="1430300" cy="13875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Google Shape;12;p3"/>
          <p:cNvCxnSpPr/>
          <p:nvPr/>
        </p:nvCxnSpPr>
        <p:spPr>
          <a:xfrm rot="10800000">
            <a:off x="708796" y="727500"/>
            <a:ext cx="0" cy="95595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" name="Google Shape;13;p3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14" name="Google Shape;14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16;p3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17" name="Google Shape;17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3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20" name="Google Shape;20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Google Shape;22;p3"/>
          <p:cNvGrpSpPr/>
          <p:nvPr/>
        </p:nvGrpSpPr>
        <p:grpSpPr>
          <a:xfrm>
            <a:off x="532694" y="551385"/>
            <a:ext cx="352186" cy="352186"/>
            <a:chOff x="0" y="0"/>
            <a:chExt cx="812800" cy="812800"/>
          </a:xfrm>
        </p:grpSpPr>
        <p:sp>
          <p:nvSpPr>
            <p:cNvPr id="23" name="Google Shape;23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Google Shape;25;p3"/>
          <p:cNvGrpSpPr/>
          <p:nvPr/>
        </p:nvGrpSpPr>
        <p:grpSpPr>
          <a:xfrm>
            <a:off x="16865627" y="551369"/>
            <a:ext cx="2137519" cy="475425"/>
            <a:chOff x="30956" y="22078"/>
            <a:chExt cx="2850026" cy="633900"/>
          </a:xfrm>
        </p:grpSpPr>
        <p:cxnSp>
          <p:nvCxnSpPr>
            <p:cNvPr id="26" name="Google Shape;26;p3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3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" name="Google Shape;28;p3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" name="Google Shape;29;p3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" name="Google Shape;30;p3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" name="Google Shape;31;p3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" name="Google Shape;32;p3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" name="Google Shape;33;p3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i="0" sz="9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4849175" y="4684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7" name="Google Shape;37;p4"/>
          <p:cNvCxnSpPr/>
          <p:nvPr/>
        </p:nvCxnSpPr>
        <p:spPr>
          <a:xfrm>
            <a:off x="0" y="432642"/>
            <a:ext cx="7948800" cy="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8" name="Google Shape;38;p4"/>
          <p:cNvGrpSpPr/>
          <p:nvPr/>
        </p:nvGrpSpPr>
        <p:grpSpPr>
          <a:xfrm>
            <a:off x="896574" y="112738"/>
            <a:ext cx="1871799" cy="639836"/>
            <a:chOff x="-39" y="0"/>
            <a:chExt cx="2495732" cy="853115"/>
          </a:xfrm>
        </p:grpSpPr>
        <p:grpSp>
          <p:nvGrpSpPr>
            <p:cNvPr id="39" name="Google Shape;39;p4"/>
            <p:cNvGrpSpPr/>
            <p:nvPr/>
          </p:nvGrpSpPr>
          <p:grpSpPr>
            <a:xfrm rot="5400000">
              <a:off x="-39" y="0"/>
              <a:ext cx="853115" cy="853115"/>
              <a:chOff x="0" y="0"/>
              <a:chExt cx="812800" cy="812800"/>
            </a:xfrm>
          </p:grpSpPr>
          <p:sp>
            <p:nvSpPr>
              <p:cNvPr id="40" name="Google Shape;40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" name="Google Shape;42;p4"/>
            <p:cNvGrpSpPr/>
            <p:nvPr/>
          </p:nvGrpSpPr>
          <p:grpSpPr>
            <a:xfrm rot="5400000">
              <a:off x="1105025" y="91998"/>
              <a:ext cx="669097" cy="669097"/>
              <a:chOff x="0" y="0"/>
              <a:chExt cx="812800" cy="812800"/>
            </a:xfrm>
          </p:grpSpPr>
          <p:sp>
            <p:nvSpPr>
              <p:cNvPr id="43" name="Google Shape;43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45;p4"/>
            <p:cNvGrpSpPr/>
            <p:nvPr/>
          </p:nvGrpSpPr>
          <p:grpSpPr>
            <a:xfrm rot="5400000">
              <a:off x="2026057" y="191735"/>
              <a:ext cx="469636" cy="469636"/>
              <a:chOff x="0" y="0"/>
              <a:chExt cx="812800" cy="812800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" name="Google Shape;48;p4"/>
          <p:cNvGrpSpPr/>
          <p:nvPr/>
        </p:nvGrpSpPr>
        <p:grpSpPr>
          <a:xfrm rot="5400000">
            <a:off x="7796331" y="256540"/>
            <a:ext cx="352186" cy="352186"/>
            <a:chOff x="0" y="0"/>
            <a:chExt cx="812800" cy="812800"/>
          </a:xfrm>
        </p:grpSpPr>
        <p:sp>
          <p:nvSpPr>
            <p:cNvPr id="49" name="Google Shape;49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4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1;p4"/>
          <p:cNvGrpSpPr/>
          <p:nvPr/>
        </p:nvGrpSpPr>
        <p:grpSpPr>
          <a:xfrm>
            <a:off x="15618305" y="1655"/>
            <a:ext cx="2137519" cy="475425"/>
            <a:chOff x="30956" y="22078"/>
            <a:chExt cx="2850026" cy="633900"/>
          </a:xfrm>
        </p:grpSpPr>
        <p:cxnSp>
          <p:nvCxnSpPr>
            <p:cNvPr id="52" name="Google Shape;52;p4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" name="Google Shape;53;p4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" name="Google Shape;54;p4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" name="Google Shape;55;p4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" name="Google Shape;56;p4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" name="Google Shape;57;p4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4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9" name="Google Shape;59;p4"/>
          <p:cNvGrpSpPr/>
          <p:nvPr/>
        </p:nvGrpSpPr>
        <p:grpSpPr>
          <a:xfrm rot="5400000">
            <a:off x="-814388" y="7426213"/>
            <a:ext cx="2137520" cy="475425"/>
            <a:chOff x="30956" y="22078"/>
            <a:chExt cx="2850026" cy="633900"/>
          </a:xfrm>
        </p:grpSpPr>
        <p:cxnSp>
          <p:nvCxnSpPr>
            <p:cNvPr id="60" name="Google Shape;60;p4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" name="Google Shape;61;p4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" name="Google Shape;62;p4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" name="Google Shape;63;p4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" name="Google Shape;64;p4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" name="Google Shape;65;p4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" name="Google Shape;66;p4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 txBox="1"/>
          <p:nvPr>
            <p:ph idx="1" type="body"/>
          </p:nvPr>
        </p:nvSpPr>
        <p:spPr>
          <a:xfrm>
            <a:off x="5036213" y="6846688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i="0" sz="9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70" name="Google Shape;7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328799" y="6229971"/>
            <a:ext cx="998450" cy="9648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5"/>
          <p:cNvCxnSpPr/>
          <p:nvPr/>
        </p:nvCxnSpPr>
        <p:spPr>
          <a:xfrm rot="10800000">
            <a:off x="708796" y="5308800"/>
            <a:ext cx="0" cy="49782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2" name="Google Shape;72;p5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73" name="Google Shape;73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" name="Google Shape;75;p5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76" name="Google Shape;76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" name="Google Shape;78;p5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79" name="Google Shape;79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" name="Google Shape;81;p5"/>
          <p:cNvGrpSpPr/>
          <p:nvPr/>
        </p:nvGrpSpPr>
        <p:grpSpPr>
          <a:xfrm>
            <a:off x="532694" y="4967398"/>
            <a:ext cx="352186" cy="352186"/>
            <a:chOff x="0" y="0"/>
            <a:chExt cx="812800" cy="812800"/>
          </a:xfrm>
        </p:grpSpPr>
        <p:sp>
          <p:nvSpPr>
            <p:cNvPr id="82" name="Google Shape;82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" name="Google Shape;84;p5"/>
          <p:cNvGrpSpPr/>
          <p:nvPr/>
        </p:nvGrpSpPr>
        <p:grpSpPr>
          <a:xfrm>
            <a:off x="13473339" y="9749080"/>
            <a:ext cx="2137519" cy="475425"/>
            <a:chOff x="30956" y="22078"/>
            <a:chExt cx="2850026" cy="633900"/>
          </a:xfrm>
        </p:grpSpPr>
        <p:cxnSp>
          <p:nvCxnSpPr>
            <p:cNvPr id="85" name="Google Shape;85;p5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" name="Google Shape;86;p5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5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" name="Google Shape;88;p5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5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" name="Google Shape;90;p5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" name="Google Shape;91;p5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2" name="Google Shape;92;p5"/>
          <p:cNvGrpSpPr/>
          <p:nvPr/>
        </p:nvGrpSpPr>
        <p:grpSpPr>
          <a:xfrm>
            <a:off x="15590579" y="9749080"/>
            <a:ext cx="2137519" cy="475425"/>
            <a:chOff x="30956" y="22078"/>
            <a:chExt cx="2850026" cy="633900"/>
          </a:xfrm>
        </p:grpSpPr>
        <p:cxnSp>
          <p:nvCxnSpPr>
            <p:cNvPr id="93" name="Google Shape;93;p5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" name="Google Shape;94;p5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" name="Google Shape;95;p5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" name="Google Shape;96;p5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" name="Google Shape;97;p5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" name="Google Shape;98;p5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" name="Google Shape;99;p5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"/>
          <p:cNvSpPr txBox="1"/>
          <p:nvPr>
            <p:ph idx="1" type="body"/>
          </p:nvPr>
        </p:nvSpPr>
        <p:spPr>
          <a:xfrm>
            <a:off x="3287925" y="4703850"/>
            <a:ext cx="5747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103" name="Google Shape;103;p6"/>
          <p:cNvSpPr txBox="1"/>
          <p:nvPr>
            <p:ph idx="2" type="body"/>
          </p:nvPr>
        </p:nvSpPr>
        <p:spPr>
          <a:xfrm>
            <a:off x="9252368" y="4703850"/>
            <a:ext cx="5747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pic>
        <p:nvPicPr>
          <p:cNvPr id="104" name="Google Shape;10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675949" y="2808650"/>
            <a:ext cx="1084775" cy="10541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6"/>
          <p:cNvCxnSpPr/>
          <p:nvPr/>
        </p:nvCxnSpPr>
        <p:spPr>
          <a:xfrm rot="10800000">
            <a:off x="17579204" y="2400271"/>
            <a:ext cx="0" cy="80724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6" name="Google Shape;106;p6"/>
          <p:cNvGrpSpPr/>
          <p:nvPr/>
        </p:nvGrpSpPr>
        <p:grpSpPr>
          <a:xfrm>
            <a:off x="17328298" y="8753186"/>
            <a:ext cx="501823" cy="501823"/>
            <a:chOff x="0" y="0"/>
            <a:chExt cx="812800" cy="812800"/>
          </a:xfrm>
        </p:grpSpPr>
        <p:sp>
          <p:nvSpPr>
            <p:cNvPr id="107" name="Google Shape;107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6"/>
          <p:cNvGrpSpPr/>
          <p:nvPr/>
        </p:nvGrpSpPr>
        <p:grpSpPr>
          <a:xfrm>
            <a:off x="17403101" y="8212008"/>
            <a:ext cx="352186" cy="352186"/>
            <a:chOff x="0" y="0"/>
            <a:chExt cx="812800" cy="812800"/>
          </a:xfrm>
        </p:grpSpPr>
        <p:sp>
          <p:nvSpPr>
            <p:cNvPr id="110" name="Google Shape;110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6"/>
          <p:cNvGrpSpPr/>
          <p:nvPr/>
        </p:nvGrpSpPr>
        <p:grpSpPr>
          <a:xfrm>
            <a:off x="17403101" y="2048096"/>
            <a:ext cx="352186" cy="352186"/>
            <a:chOff x="0" y="0"/>
            <a:chExt cx="812800" cy="812800"/>
          </a:xfrm>
        </p:grpSpPr>
        <p:sp>
          <p:nvSpPr>
            <p:cNvPr id="113" name="Google Shape;113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6"/>
          <p:cNvGrpSpPr/>
          <p:nvPr/>
        </p:nvGrpSpPr>
        <p:grpSpPr>
          <a:xfrm rot="5400000">
            <a:off x="-814388" y="2570955"/>
            <a:ext cx="2137520" cy="475425"/>
            <a:chOff x="30956" y="22078"/>
            <a:chExt cx="2850026" cy="633900"/>
          </a:xfrm>
        </p:grpSpPr>
        <p:cxnSp>
          <p:nvCxnSpPr>
            <p:cNvPr id="116" name="Google Shape;116;p6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6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6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6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6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6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6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2736702" y="4829575"/>
            <a:ext cx="61518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126" name="Google Shape;126;p7"/>
          <p:cNvSpPr txBox="1"/>
          <p:nvPr>
            <p:ph idx="2" type="body"/>
          </p:nvPr>
        </p:nvSpPr>
        <p:spPr>
          <a:xfrm>
            <a:off x="9113693" y="4829575"/>
            <a:ext cx="61548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pic>
        <p:nvPicPr>
          <p:cNvPr id="127" name="Google Shape;12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966525" y="8392049"/>
            <a:ext cx="2182800" cy="127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050" y="446410"/>
            <a:ext cx="387650" cy="19321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7"/>
          <p:cNvGrpSpPr/>
          <p:nvPr/>
        </p:nvGrpSpPr>
        <p:grpSpPr>
          <a:xfrm>
            <a:off x="14966537" y="204792"/>
            <a:ext cx="2137519" cy="475425"/>
            <a:chOff x="30956" y="22078"/>
            <a:chExt cx="2850026" cy="633900"/>
          </a:xfrm>
        </p:grpSpPr>
        <p:cxnSp>
          <p:nvCxnSpPr>
            <p:cNvPr id="130" name="Google Shape;130;p7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7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7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7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7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" name="Google Shape;135;p7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" name="Google Shape;136;p7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7" name="Google Shape;137;p7"/>
          <p:cNvGrpSpPr/>
          <p:nvPr/>
        </p:nvGrpSpPr>
        <p:grpSpPr>
          <a:xfrm>
            <a:off x="17083777" y="204792"/>
            <a:ext cx="2137519" cy="475425"/>
            <a:chOff x="30956" y="22078"/>
            <a:chExt cx="2850026" cy="633900"/>
          </a:xfrm>
        </p:grpSpPr>
        <p:cxnSp>
          <p:nvCxnSpPr>
            <p:cNvPr id="138" name="Google Shape;138;p7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" name="Google Shape;139;p7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" name="Google Shape;140;p7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" name="Google Shape;141;p7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7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" name="Google Shape;143;p7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7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47" name="Google Shape;147;p8"/>
          <p:cNvCxnSpPr/>
          <p:nvPr/>
        </p:nvCxnSpPr>
        <p:spPr>
          <a:xfrm rot="10800000">
            <a:off x="17259300" y="727500"/>
            <a:ext cx="0" cy="95595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8" name="Google Shape;148;p8"/>
          <p:cNvGrpSpPr/>
          <p:nvPr/>
        </p:nvGrpSpPr>
        <p:grpSpPr>
          <a:xfrm>
            <a:off x="16939396" y="9258300"/>
            <a:ext cx="639836" cy="639836"/>
            <a:chOff x="0" y="0"/>
            <a:chExt cx="812800" cy="812800"/>
          </a:xfrm>
        </p:grpSpPr>
        <p:sp>
          <p:nvSpPr>
            <p:cNvPr id="149" name="Google Shape;149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8"/>
          <p:cNvGrpSpPr/>
          <p:nvPr/>
        </p:nvGrpSpPr>
        <p:grpSpPr>
          <a:xfrm>
            <a:off x="17008395" y="8567516"/>
            <a:ext cx="501823" cy="501823"/>
            <a:chOff x="0" y="0"/>
            <a:chExt cx="812800" cy="812800"/>
          </a:xfrm>
        </p:grpSpPr>
        <p:sp>
          <p:nvSpPr>
            <p:cNvPr id="152" name="Google Shape;152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17083198" y="8026338"/>
            <a:ext cx="352186" cy="352186"/>
            <a:chOff x="0" y="0"/>
            <a:chExt cx="812800" cy="812800"/>
          </a:xfrm>
        </p:grpSpPr>
        <p:sp>
          <p:nvSpPr>
            <p:cNvPr id="155" name="Google Shape;155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8"/>
          <p:cNvGrpSpPr/>
          <p:nvPr/>
        </p:nvGrpSpPr>
        <p:grpSpPr>
          <a:xfrm>
            <a:off x="17083198" y="551385"/>
            <a:ext cx="352186" cy="352186"/>
            <a:chOff x="0" y="0"/>
            <a:chExt cx="812800" cy="812800"/>
          </a:xfrm>
        </p:grpSpPr>
        <p:sp>
          <p:nvSpPr>
            <p:cNvPr id="158" name="Google Shape;158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8"/>
          <p:cNvGrpSpPr/>
          <p:nvPr/>
        </p:nvGrpSpPr>
        <p:grpSpPr>
          <a:xfrm>
            <a:off x="1051917" y="9744609"/>
            <a:ext cx="2137520" cy="475425"/>
            <a:chOff x="30956" y="22078"/>
            <a:chExt cx="2850026" cy="633900"/>
          </a:xfrm>
        </p:grpSpPr>
        <p:cxnSp>
          <p:nvCxnSpPr>
            <p:cNvPr id="161" name="Google Shape;161;p8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8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8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8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8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8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8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68" name="Google Shape;16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8475" y="4572470"/>
            <a:ext cx="765300" cy="741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idx="1" type="body"/>
          </p:nvPr>
        </p:nvSpPr>
        <p:spPr>
          <a:xfrm>
            <a:off x="9298225" y="4762625"/>
            <a:ext cx="5487000" cy="4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171" name="Google Shape;171;p9"/>
          <p:cNvSpPr txBox="1"/>
          <p:nvPr>
            <p:ph idx="2" type="body"/>
          </p:nvPr>
        </p:nvSpPr>
        <p:spPr>
          <a:xfrm>
            <a:off x="3502775" y="4870600"/>
            <a:ext cx="55998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sp>
        <p:nvSpPr>
          <p:cNvPr id="172" name="Google Shape;172;p9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i="0" sz="9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173" name="Google Shape;17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193897" y="7776771"/>
            <a:ext cx="849975" cy="825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025" y="3135975"/>
            <a:ext cx="1551975" cy="1917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9"/>
          <p:cNvGrpSpPr/>
          <p:nvPr/>
        </p:nvGrpSpPr>
        <p:grpSpPr>
          <a:xfrm>
            <a:off x="2765041" y="9794917"/>
            <a:ext cx="2137519" cy="475425"/>
            <a:chOff x="30956" y="22078"/>
            <a:chExt cx="2850026" cy="633900"/>
          </a:xfrm>
        </p:grpSpPr>
        <p:cxnSp>
          <p:nvCxnSpPr>
            <p:cNvPr id="176" name="Google Shape;176;p9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9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" name="Google Shape;178;p9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9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9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9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9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3" name="Google Shape;183;p9"/>
          <p:cNvGrpSpPr/>
          <p:nvPr/>
        </p:nvGrpSpPr>
        <p:grpSpPr>
          <a:xfrm>
            <a:off x="4882281" y="9794917"/>
            <a:ext cx="2137520" cy="475425"/>
            <a:chOff x="30956" y="22078"/>
            <a:chExt cx="2850026" cy="633900"/>
          </a:xfrm>
        </p:grpSpPr>
        <p:cxnSp>
          <p:nvCxnSpPr>
            <p:cNvPr id="184" name="Google Shape;184;p9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5" name="Google Shape;185;p9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9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9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9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p9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" name="Google Shape;190;p9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/>
          <p:nvPr>
            <p:ph idx="2" type="pic"/>
          </p:nvPr>
        </p:nvSpPr>
        <p:spPr>
          <a:xfrm>
            <a:off x="11032673" y="5005500"/>
            <a:ext cx="4678500" cy="35091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10"/>
          <p:cNvSpPr txBox="1"/>
          <p:nvPr>
            <p:ph idx="1" type="body"/>
          </p:nvPr>
        </p:nvSpPr>
        <p:spPr>
          <a:xfrm>
            <a:off x="2436438" y="464508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sp>
        <p:nvSpPr>
          <p:cNvPr id="194" name="Google Shape;194;p10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i="0" sz="9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95" name="Google Shape;195;p10"/>
          <p:cNvGrpSpPr/>
          <p:nvPr/>
        </p:nvGrpSpPr>
        <p:grpSpPr>
          <a:xfrm>
            <a:off x="9265984" y="8920941"/>
            <a:ext cx="2137520" cy="475425"/>
            <a:chOff x="30956" y="22078"/>
            <a:chExt cx="2850026" cy="633900"/>
          </a:xfrm>
        </p:grpSpPr>
        <p:cxnSp>
          <p:nvCxnSpPr>
            <p:cNvPr id="196" name="Google Shape;196;p10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" name="Google Shape;197;p10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p10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10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0" name="Google Shape;200;p10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" name="Google Shape;201;p10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" name="Google Shape;202;p10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03" name="Google Shape;20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381501" y="2267600"/>
            <a:ext cx="822075" cy="798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525" y="7990676"/>
            <a:ext cx="352175" cy="1766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b="0" i="0" sz="9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849175" y="4684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–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–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»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s://cloud.ru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hyperlink" Target="https://cloud.ru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loud.ru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hyperlink" Target="https://cloud.ru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1" title="ЗаголовКоманда проекта НейроЭмоции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12"/>
          <p:cNvGrpSpPr/>
          <p:nvPr/>
        </p:nvGrpSpPr>
        <p:grpSpPr>
          <a:xfrm>
            <a:off x="15976928" y="708796"/>
            <a:ext cx="1871770" cy="639807"/>
            <a:chOff x="0" y="0"/>
            <a:chExt cx="2495693" cy="853076"/>
          </a:xfrm>
        </p:grpSpPr>
        <p:grpSp>
          <p:nvGrpSpPr>
            <p:cNvPr id="215" name="Google Shape;215;p12"/>
            <p:cNvGrpSpPr/>
            <p:nvPr/>
          </p:nvGrpSpPr>
          <p:grpSpPr>
            <a:xfrm rot="5400000">
              <a:off x="0" y="0"/>
              <a:ext cx="853076" cy="853076"/>
              <a:chOff x="0" y="0"/>
              <a:chExt cx="812800" cy="812800"/>
            </a:xfrm>
          </p:grpSpPr>
          <p:sp>
            <p:nvSpPr>
              <p:cNvPr id="216" name="Google Shape;216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8" name="Google Shape;218;p12"/>
            <p:cNvGrpSpPr/>
            <p:nvPr/>
          </p:nvGrpSpPr>
          <p:grpSpPr>
            <a:xfrm rot="5400000">
              <a:off x="1105041" y="91998"/>
              <a:ext cx="669081" cy="669081"/>
              <a:chOff x="0" y="0"/>
              <a:chExt cx="812800" cy="812800"/>
            </a:xfrm>
          </p:grpSpPr>
          <p:sp>
            <p:nvSpPr>
              <p:cNvPr id="219" name="Google Shape;219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12"/>
            <p:cNvGrpSpPr/>
            <p:nvPr/>
          </p:nvGrpSpPr>
          <p:grpSpPr>
            <a:xfrm rot="5400000">
              <a:off x="2026087" y="191735"/>
              <a:ext cx="469606" cy="469606"/>
              <a:chOff x="0" y="0"/>
              <a:chExt cx="812800" cy="812800"/>
            </a:xfrm>
          </p:grpSpPr>
          <p:sp>
            <p:nvSpPr>
              <p:cNvPr id="222" name="Google Shape;222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4" name="Google Shape;224;p12"/>
          <p:cNvSpPr txBox="1"/>
          <p:nvPr/>
        </p:nvSpPr>
        <p:spPr>
          <a:xfrm>
            <a:off x="5113553" y="3851856"/>
            <a:ext cx="867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12"/>
          <p:cNvGrpSpPr/>
          <p:nvPr/>
        </p:nvGrpSpPr>
        <p:grpSpPr>
          <a:xfrm>
            <a:off x="15098602" y="9795017"/>
            <a:ext cx="2137482" cy="475324"/>
            <a:chOff x="30956" y="22212"/>
            <a:chExt cx="2849976" cy="633766"/>
          </a:xfrm>
        </p:grpSpPr>
        <p:cxnSp>
          <p:nvCxnSpPr>
            <p:cNvPr id="226" name="Google Shape;226;p12"/>
            <p:cNvCxnSpPr/>
            <p:nvPr/>
          </p:nvCxnSpPr>
          <p:spPr>
            <a:xfrm flipH="1" rot="10800000">
              <a:off x="30956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7" name="Google Shape;227;p12"/>
            <p:cNvCxnSpPr/>
            <p:nvPr/>
          </p:nvCxnSpPr>
          <p:spPr>
            <a:xfrm flipH="1" rot="10800000">
              <a:off x="430160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8" name="Google Shape;228;p12"/>
            <p:cNvCxnSpPr/>
            <p:nvPr/>
          </p:nvCxnSpPr>
          <p:spPr>
            <a:xfrm flipH="1" rot="10800000">
              <a:off x="829364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9" name="Google Shape;229;p12"/>
            <p:cNvCxnSpPr/>
            <p:nvPr/>
          </p:nvCxnSpPr>
          <p:spPr>
            <a:xfrm flipH="1" rot="10800000">
              <a:off x="1228569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0" name="Google Shape;230;p12"/>
            <p:cNvCxnSpPr/>
            <p:nvPr/>
          </p:nvCxnSpPr>
          <p:spPr>
            <a:xfrm flipH="1" rot="10800000">
              <a:off x="1627773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12"/>
            <p:cNvCxnSpPr/>
            <p:nvPr/>
          </p:nvCxnSpPr>
          <p:spPr>
            <a:xfrm flipH="1" rot="10800000">
              <a:off x="2026977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12"/>
            <p:cNvCxnSpPr/>
            <p:nvPr/>
          </p:nvCxnSpPr>
          <p:spPr>
            <a:xfrm flipH="1" rot="10800000">
              <a:off x="2426182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3" name="Google Shape;233;p12"/>
          <p:cNvSpPr txBox="1"/>
          <p:nvPr/>
        </p:nvSpPr>
        <p:spPr>
          <a:xfrm>
            <a:off x="7724117" y="7765746"/>
            <a:ext cx="4073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9"/>
              <a:buFont typeface="Arial"/>
              <a:buNone/>
            </a:pPr>
            <a:r>
              <a:rPr b="1" i="0" lang="en-US" sz="3299" u="none" cap="none" strike="noStrike">
                <a:solidFill>
                  <a:srgbClr val="0C0F27"/>
                </a:solidFill>
                <a:latin typeface="Montserrat"/>
                <a:ea typeface="Montserrat"/>
                <a:cs typeface="Montserrat"/>
                <a:sym typeface="Montserrat"/>
              </a:rPr>
              <a:t>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1091500" y="747600"/>
            <a:ext cx="10062600" cy="197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1472650" y="956925"/>
            <a:ext cx="9300300" cy="13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2F2F2"/>
                </a:solidFill>
                <a:latin typeface="Comfortaa"/>
                <a:ea typeface="Comfortaa"/>
                <a:cs typeface="Comfortaa"/>
                <a:sym typeface="Comfortaa"/>
              </a:rPr>
              <a:t>Команда проекта "НейроЭмоции" (MIFIML):</a:t>
            </a:r>
            <a:endParaRPr b="1" sz="48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1091500" y="3216088"/>
            <a:ext cx="11513100" cy="45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Борзунов Антон Андреевич</a:t>
            </a:r>
            <a:r>
              <a:rPr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- Data &amp; Chunking Engineer</a:t>
            </a:r>
            <a:endParaRPr b="1" i="1" sz="24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Чунарев Дмитрий Дмитриевич</a:t>
            </a:r>
            <a:r>
              <a:rPr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- Vector DB &amp; Embeddings Engineer</a:t>
            </a:r>
            <a:endParaRPr b="1" i="1" sz="24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Ситёв Роман Рустамович</a:t>
            </a:r>
            <a:r>
              <a:rPr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- RAG Core &amp; Prompt Engineer</a:t>
            </a:r>
            <a:endParaRPr b="1" i="1" sz="24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Голунов Артем Сергеевич</a:t>
            </a:r>
            <a:r>
              <a:rPr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- Backend &amp; API Developer</a:t>
            </a:r>
            <a:endParaRPr b="1" i="1" sz="24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Бикбулатова Айгуль Ришатовна</a:t>
            </a:r>
            <a:r>
              <a:rPr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- UI/UX Core Developer</a:t>
            </a:r>
            <a:endParaRPr b="1" i="1" sz="24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Булахов Юрий Эдуардович</a:t>
            </a:r>
            <a:r>
              <a:rPr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- Advanced Features &amp; UI Integration Developer</a:t>
            </a:r>
            <a:endParaRPr b="1" i="1" sz="24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Ворошнина Анна Олеговна</a:t>
            </a:r>
            <a:r>
              <a:rPr lang="en-US" sz="24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- Integration, Testing &amp; Demo Manager</a:t>
            </a:r>
            <a:endParaRPr sz="24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1091500" y="7610600"/>
            <a:ext cx="10092600" cy="14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2F2F2"/>
                </a:solidFill>
                <a:latin typeface="Comfortaa"/>
                <a:ea typeface="Comfortaa"/>
                <a:cs typeface="Comfortaa"/>
                <a:sym typeface="Comfortaa"/>
              </a:rPr>
              <a:t>Ссылка на Git-проект: </a:t>
            </a:r>
            <a:endParaRPr sz="2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523300" y="7716700"/>
            <a:ext cx="568200" cy="475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13"/>
          <p:cNvGrpSpPr/>
          <p:nvPr/>
        </p:nvGrpSpPr>
        <p:grpSpPr>
          <a:xfrm>
            <a:off x="1375186" y="1824839"/>
            <a:ext cx="1734922" cy="1734922"/>
            <a:chOff x="0" y="0"/>
            <a:chExt cx="812800" cy="812800"/>
          </a:xfrm>
        </p:grpSpPr>
        <p:sp>
          <p:nvSpPr>
            <p:cNvPr id="244" name="Google Shape;244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78025" lIns="78025" spcFirstLastPara="1" rIns="78025" wrap="square" tIns="7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5"/>
                <a:buFont typeface="Arial"/>
                <a:buNone/>
              </a:pPr>
              <a:r>
                <a:t/>
              </a:r>
              <a:endParaRPr b="0" i="0" sz="11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350" lIns="43350" spcFirstLastPara="1" rIns="43350" wrap="square" tIns="4335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6"/>
                <a:buFont typeface="Arial"/>
                <a:buNone/>
              </a:pPr>
              <a:r>
                <a:t/>
              </a:r>
              <a:endParaRPr b="0" i="0" sz="15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6" name="Google Shape;2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72850" y="5848020"/>
            <a:ext cx="1430300" cy="13875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7" name="Google Shape;247;p13"/>
          <p:cNvCxnSpPr/>
          <p:nvPr/>
        </p:nvCxnSpPr>
        <p:spPr>
          <a:xfrm rot="10800000">
            <a:off x="708796" y="727487"/>
            <a:ext cx="0" cy="9559513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8" name="Google Shape;248;p13"/>
          <p:cNvGrpSpPr/>
          <p:nvPr/>
        </p:nvGrpSpPr>
        <p:grpSpPr>
          <a:xfrm>
            <a:off x="388893" y="9258300"/>
            <a:ext cx="639807" cy="639807"/>
            <a:chOff x="0" y="0"/>
            <a:chExt cx="812800" cy="812800"/>
          </a:xfrm>
        </p:grpSpPr>
        <p:sp>
          <p:nvSpPr>
            <p:cNvPr id="249" name="Google Shape;249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13"/>
          <p:cNvGrpSpPr/>
          <p:nvPr/>
        </p:nvGrpSpPr>
        <p:grpSpPr>
          <a:xfrm>
            <a:off x="457891" y="8567516"/>
            <a:ext cx="501811" cy="501811"/>
            <a:chOff x="0" y="0"/>
            <a:chExt cx="812800" cy="812800"/>
          </a:xfrm>
        </p:grpSpPr>
        <p:sp>
          <p:nvSpPr>
            <p:cNvPr id="252" name="Google Shape;252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13"/>
          <p:cNvGrpSpPr/>
          <p:nvPr/>
        </p:nvGrpSpPr>
        <p:grpSpPr>
          <a:xfrm>
            <a:off x="532694" y="8026338"/>
            <a:ext cx="352204" cy="352204"/>
            <a:chOff x="0" y="0"/>
            <a:chExt cx="812800" cy="812800"/>
          </a:xfrm>
        </p:grpSpPr>
        <p:sp>
          <p:nvSpPr>
            <p:cNvPr id="255" name="Google Shape;255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13"/>
          <p:cNvGrpSpPr/>
          <p:nvPr/>
        </p:nvGrpSpPr>
        <p:grpSpPr>
          <a:xfrm>
            <a:off x="532694" y="551385"/>
            <a:ext cx="352204" cy="352204"/>
            <a:chOff x="0" y="0"/>
            <a:chExt cx="812800" cy="812800"/>
          </a:xfrm>
        </p:grpSpPr>
        <p:sp>
          <p:nvSpPr>
            <p:cNvPr id="258" name="Google Shape;258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13"/>
          <p:cNvSpPr txBox="1"/>
          <p:nvPr/>
        </p:nvSpPr>
        <p:spPr>
          <a:xfrm>
            <a:off x="1375175" y="479575"/>
            <a:ext cx="125751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lt2"/>
                </a:solidFill>
                <a:latin typeface="Comfortaa"/>
                <a:ea typeface="Comfortaa"/>
                <a:cs typeface="Comfortaa"/>
                <a:sym typeface="Comfortaa"/>
              </a:rPr>
              <a:t>Проблема и задача от заказчика</a:t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3249950" y="1410875"/>
            <a:ext cx="127935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Бизнес-задача: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Партнер </a:t>
            </a:r>
            <a:r>
              <a:rPr lang="en-US" sz="2400">
                <a:solidFill>
                  <a:srgbClr val="679EFE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Cloud.ru</a:t>
            </a: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, ведущий российский провайдер облачных сервисов, столкнулся с вызовом: как сделать сложные технические учебные материалы (практические руководства Evolution) доступными и легкими для усвоения студентами и начинающими специалистами.</a:t>
            </a:r>
            <a:endParaRPr sz="24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3808539" y="3900774"/>
            <a:ext cx="489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3" name="Google Shape;263;p13"/>
          <p:cNvGrpSpPr/>
          <p:nvPr/>
        </p:nvGrpSpPr>
        <p:grpSpPr>
          <a:xfrm>
            <a:off x="16127302" y="568044"/>
            <a:ext cx="2137482" cy="475324"/>
            <a:chOff x="30956" y="22212"/>
            <a:chExt cx="2849976" cy="633766"/>
          </a:xfrm>
        </p:grpSpPr>
        <p:cxnSp>
          <p:nvCxnSpPr>
            <p:cNvPr id="264" name="Google Shape;264;p13"/>
            <p:cNvCxnSpPr/>
            <p:nvPr/>
          </p:nvCxnSpPr>
          <p:spPr>
            <a:xfrm flipH="1" rot="10800000">
              <a:off x="30956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5" name="Google Shape;265;p13"/>
            <p:cNvCxnSpPr/>
            <p:nvPr/>
          </p:nvCxnSpPr>
          <p:spPr>
            <a:xfrm flipH="1" rot="10800000">
              <a:off x="430160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" name="Google Shape;266;p13"/>
            <p:cNvCxnSpPr/>
            <p:nvPr/>
          </p:nvCxnSpPr>
          <p:spPr>
            <a:xfrm flipH="1" rot="10800000">
              <a:off x="829364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7" name="Google Shape;267;p13"/>
            <p:cNvCxnSpPr/>
            <p:nvPr/>
          </p:nvCxnSpPr>
          <p:spPr>
            <a:xfrm flipH="1" rot="10800000">
              <a:off x="1228569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 flipH="1" rot="10800000">
              <a:off x="1627773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9" name="Google Shape;269;p13"/>
            <p:cNvCxnSpPr/>
            <p:nvPr/>
          </p:nvCxnSpPr>
          <p:spPr>
            <a:xfrm flipH="1" rot="10800000">
              <a:off x="2026977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0" name="Google Shape;270;p13"/>
            <p:cNvCxnSpPr/>
            <p:nvPr/>
          </p:nvCxnSpPr>
          <p:spPr>
            <a:xfrm flipH="1" rot="10800000">
              <a:off x="2426182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1" name="Google Shape;271;p13"/>
          <p:cNvSpPr txBox="1"/>
          <p:nvPr/>
        </p:nvSpPr>
        <p:spPr>
          <a:xfrm>
            <a:off x="1844238" y="2255825"/>
            <a:ext cx="7968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endParaRPr sz="48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272" name="Google Shape;272;p13"/>
          <p:cNvGrpSpPr/>
          <p:nvPr/>
        </p:nvGrpSpPr>
        <p:grpSpPr>
          <a:xfrm>
            <a:off x="1375174" y="4639776"/>
            <a:ext cx="1734922" cy="1734922"/>
            <a:chOff x="0" y="0"/>
            <a:chExt cx="812800" cy="812800"/>
          </a:xfrm>
        </p:grpSpPr>
        <p:sp>
          <p:nvSpPr>
            <p:cNvPr id="273" name="Google Shape;273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78025" lIns="78025" spcFirstLastPara="1" rIns="78025" wrap="square" tIns="7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95"/>
                <a:buFont typeface="Arial"/>
                <a:buNone/>
              </a:pPr>
              <a:r>
                <a:t/>
              </a:r>
              <a:endParaRPr b="0" i="0" sz="11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3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350" lIns="43350" spcFirstLastPara="1" rIns="43350" wrap="square" tIns="4335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6"/>
                <a:buFont typeface="Arial"/>
                <a:buNone/>
              </a:pPr>
              <a:r>
                <a:t/>
              </a:r>
              <a:endParaRPr b="0" i="0" sz="15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p13"/>
          <p:cNvSpPr txBox="1"/>
          <p:nvPr/>
        </p:nvSpPr>
        <p:spPr>
          <a:xfrm>
            <a:off x="1854050" y="5038825"/>
            <a:ext cx="796800" cy="9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2</a:t>
            </a:r>
            <a:endParaRPr sz="48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76" name="Google Shape;276;p13"/>
          <p:cNvSpPr txBox="1"/>
          <p:nvPr/>
        </p:nvSpPr>
        <p:spPr>
          <a:xfrm>
            <a:off x="3229650" y="4605225"/>
            <a:ext cx="12897600" cy="20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Требование: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Разработать MVP AI-репетитора, который не просто выдает информацию, а помогает учиться: объясняет, задает вопросы, рекомендует материалы и ссылается на источники.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28799" y="6229971"/>
            <a:ext cx="998450" cy="9648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2" name="Google Shape;282;p14"/>
          <p:cNvCxnSpPr/>
          <p:nvPr/>
        </p:nvCxnSpPr>
        <p:spPr>
          <a:xfrm rot="10800000">
            <a:off x="708796" y="5308911"/>
            <a:ext cx="0" cy="4978089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3" name="Google Shape;283;p14"/>
          <p:cNvGrpSpPr/>
          <p:nvPr/>
        </p:nvGrpSpPr>
        <p:grpSpPr>
          <a:xfrm>
            <a:off x="388893" y="9258300"/>
            <a:ext cx="639807" cy="639807"/>
            <a:chOff x="0" y="0"/>
            <a:chExt cx="812800" cy="812800"/>
          </a:xfrm>
        </p:grpSpPr>
        <p:sp>
          <p:nvSpPr>
            <p:cNvPr id="284" name="Google Shape;284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14"/>
          <p:cNvGrpSpPr/>
          <p:nvPr/>
        </p:nvGrpSpPr>
        <p:grpSpPr>
          <a:xfrm>
            <a:off x="457891" y="8567516"/>
            <a:ext cx="501811" cy="501811"/>
            <a:chOff x="0" y="0"/>
            <a:chExt cx="812800" cy="812800"/>
          </a:xfrm>
        </p:grpSpPr>
        <p:sp>
          <p:nvSpPr>
            <p:cNvPr id="287" name="Google Shape;287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14"/>
          <p:cNvGrpSpPr/>
          <p:nvPr/>
        </p:nvGrpSpPr>
        <p:grpSpPr>
          <a:xfrm>
            <a:off x="532694" y="8026338"/>
            <a:ext cx="352204" cy="352204"/>
            <a:chOff x="0" y="0"/>
            <a:chExt cx="812800" cy="812800"/>
          </a:xfrm>
        </p:grpSpPr>
        <p:sp>
          <p:nvSpPr>
            <p:cNvPr id="290" name="Google Shape;290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14"/>
          <p:cNvGrpSpPr/>
          <p:nvPr/>
        </p:nvGrpSpPr>
        <p:grpSpPr>
          <a:xfrm>
            <a:off x="532694" y="4967398"/>
            <a:ext cx="352204" cy="352204"/>
            <a:chOff x="0" y="0"/>
            <a:chExt cx="812800" cy="812800"/>
          </a:xfrm>
        </p:grpSpPr>
        <p:sp>
          <p:nvSpPr>
            <p:cNvPr id="293" name="Google Shape;293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4"/>
          <p:cNvSpPr txBox="1"/>
          <p:nvPr/>
        </p:nvSpPr>
        <p:spPr>
          <a:xfrm>
            <a:off x="1028725" y="699775"/>
            <a:ext cx="15765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lt2"/>
                </a:solidFill>
                <a:latin typeface="Comfortaa"/>
                <a:ea typeface="Comfortaa"/>
                <a:cs typeface="Comfortaa"/>
                <a:sym typeface="Comfortaa"/>
              </a:rPr>
              <a:t>Наше решение и архитектура</a:t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96" name="Google Shape;296;p14"/>
          <p:cNvGrpSpPr/>
          <p:nvPr/>
        </p:nvGrpSpPr>
        <p:grpSpPr>
          <a:xfrm>
            <a:off x="15590579" y="9749180"/>
            <a:ext cx="2137482" cy="475324"/>
            <a:chOff x="30956" y="22212"/>
            <a:chExt cx="2849976" cy="633766"/>
          </a:xfrm>
        </p:grpSpPr>
        <p:cxnSp>
          <p:nvCxnSpPr>
            <p:cNvPr id="297" name="Google Shape;297;p14"/>
            <p:cNvCxnSpPr/>
            <p:nvPr/>
          </p:nvCxnSpPr>
          <p:spPr>
            <a:xfrm flipH="1" rot="10800000">
              <a:off x="30956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8" name="Google Shape;298;p14"/>
            <p:cNvCxnSpPr/>
            <p:nvPr/>
          </p:nvCxnSpPr>
          <p:spPr>
            <a:xfrm flipH="1" rot="10800000">
              <a:off x="430160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9" name="Google Shape;299;p14"/>
            <p:cNvCxnSpPr/>
            <p:nvPr/>
          </p:nvCxnSpPr>
          <p:spPr>
            <a:xfrm flipH="1" rot="10800000">
              <a:off x="829364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 flipH="1" rot="10800000">
              <a:off x="1228569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 flipH="1" rot="10800000">
              <a:off x="1627773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 flipH="1" rot="10800000">
              <a:off x="2026977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 flipH="1" rot="10800000">
              <a:off x="2426182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4" name="Google Shape;304;p14"/>
          <p:cNvSpPr txBox="1"/>
          <p:nvPr/>
        </p:nvSpPr>
        <p:spPr>
          <a:xfrm>
            <a:off x="1028725" y="1913850"/>
            <a:ext cx="13830600" cy="18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Предлагаемое решение: RAG-подход (Retrieval-Augmented Generation)</a:t>
            </a:r>
            <a:endParaRPr b="1"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Мы создали не просто чат-бота, а полноценный учебный ассистент с прозрачной архитектурой:</a:t>
            </a:r>
            <a:endParaRPr sz="2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1211125" y="3618400"/>
            <a:ext cx="12649500" cy="476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1417525" y="4091150"/>
            <a:ext cx="13053000" cy="49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AutoNum type="arabicPeriod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База знаний: Структурированные учебные материалы </a:t>
            </a:r>
            <a:r>
              <a:rPr lang="en-US" sz="2400">
                <a:solidFill>
                  <a:schemeClr val="accent2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Cloud.ru</a:t>
            </a: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AutoNum type="arabicPeriod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Интеллектуальный поиск: Система находит наиболее релевантные фрагменты по смыслу, а не по ключевым словам.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AutoNum type="arabicPeriod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Генерация ответов: Ядро на основе LLM формирует понятные, развернутые объяснения, всегда цитируя источники.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AutoNum type="arabicPeriod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Пользовательский интерфейс: Доступ через удобный Telegram-бот.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Ключевая ценность: </a:t>
            </a: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Точность, контекстность и обучающий диалог вместо статичного поиска.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1" name="Google Shape;311;p15"/>
          <p:cNvCxnSpPr/>
          <p:nvPr/>
        </p:nvCxnSpPr>
        <p:spPr>
          <a:xfrm rot="10800000">
            <a:off x="708796" y="5308800"/>
            <a:ext cx="0" cy="49782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2" name="Google Shape;312;p15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313" name="Google Shape;313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15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316" name="Google Shape;316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15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319" name="Google Shape;319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15"/>
          <p:cNvGrpSpPr/>
          <p:nvPr/>
        </p:nvGrpSpPr>
        <p:grpSpPr>
          <a:xfrm>
            <a:off x="532694" y="4967398"/>
            <a:ext cx="352186" cy="352186"/>
            <a:chOff x="0" y="0"/>
            <a:chExt cx="812800" cy="812800"/>
          </a:xfrm>
        </p:grpSpPr>
        <p:sp>
          <p:nvSpPr>
            <p:cNvPr id="322" name="Google Shape;322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15"/>
          <p:cNvSpPr txBox="1"/>
          <p:nvPr/>
        </p:nvSpPr>
        <p:spPr>
          <a:xfrm>
            <a:off x="1028725" y="699775"/>
            <a:ext cx="15765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F9FAFB"/>
                </a:solidFill>
                <a:highlight>
                  <a:srgbClr val="151517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4800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  <a:t>Этап 1. Фундамент: Подготовка данных</a:t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25" name="Google Shape;325;p15"/>
          <p:cNvGrpSpPr/>
          <p:nvPr/>
        </p:nvGrpSpPr>
        <p:grpSpPr>
          <a:xfrm>
            <a:off x="15590579" y="9749080"/>
            <a:ext cx="2137519" cy="475425"/>
            <a:chOff x="30956" y="22078"/>
            <a:chExt cx="2850026" cy="633900"/>
          </a:xfrm>
        </p:grpSpPr>
        <p:cxnSp>
          <p:nvCxnSpPr>
            <p:cNvPr id="326" name="Google Shape;326;p15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7" name="Google Shape;327;p15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8" name="Google Shape;328;p15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15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" name="Google Shape;330;p15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1" name="Google Shape;331;p15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3" name="Google Shape;333;p15"/>
          <p:cNvSpPr txBox="1"/>
          <p:nvPr/>
        </p:nvSpPr>
        <p:spPr>
          <a:xfrm>
            <a:off x="1028725" y="1913850"/>
            <a:ext cx="13830600" cy="18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Исполнитель: Борзунов Антон, Data &amp; Chunking Engineer</a:t>
            </a:r>
            <a:endParaRPr sz="24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Задача: Превратить сырые учебные материалы в готовую к анализу базу знаний.</a:t>
            </a:r>
            <a:endParaRPr sz="24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1211125" y="3618400"/>
            <a:ext cx="13053000" cy="476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15"/>
          <p:cNvSpPr txBox="1"/>
          <p:nvPr/>
        </p:nvSpPr>
        <p:spPr>
          <a:xfrm>
            <a:off x="1417525" y="4091150"/>
            <a:ext cx="13053000" cy="49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Что было сделано: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Автоматический сбор и очистка материалов с сайта </a:t>
            </a:r>
            <a:r>
              <a:rPr lang="en-US" sz="2400">
                <a:solidFill>
                  <a:srgbClr val="0C0F27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Cloud.ru</a:t>
            </a: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Интеллектуальное разбиение на смысловые блоки (чанки) для точного поиска.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Сохранение критичных метаданных: заголовок, ссылка, категория.</a:t>
            </a:r>
            <a:b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Результат: Структурированный датасет из 692 учебных фрагмента – готовое «топливо» для AI.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0" name="Google Shape;340;p16"/>
          <p:cNvCxnSpPr/>
          <p:nvPr/>
        </p:nvCxnSpPr>
        <p:spPr>
          <a:xfrm rot="10800000">
            <a:off x="708796" y="5308800"/>
            <a:ext cx="0" cy="49782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1" name="Google Shape;341;p16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342" name="Google Shape;342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4" name="Google Shape;344;p16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345" name="Google Shape;345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" name="Google Shape;347;p16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348" name="Google Shape;348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" name="Google Shape;350;p16"/>
          <p:cNvGrpSpPr/>
          <p:nvPr/>
        </p:nvGrpSpPr>
        <p:grpSpPr>
          <a:xfrm>
            <a:off x="532694" y="4967398"/>
            <a:ext cx="352186" cy="352186"/>
            <a:chOff x="0" y="0"/>
            <a:chExt cx="812800" cy="812800"/>
          </a:xfrm>
        </p:grpSpPr>
        <p:sp>
          <p:nvSpPr>
            <p:cNvPr id="351" name="Google Shape;351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16"/>
          <p:cNvSpPr txBox="1"/>
          <p:nvPr/>
        </p:nvSpPr>
        <p:spPr>
          <a:xfrm>
            <a:off x="1028725" y="699775"/>
            <a:ext cx="15765600" cy="5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en-US" sz="4800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  <a:t>Этап 2. Понимание смысла: Векторизация</a:t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54" name="Google Shape;354;p16"/>
          <p:cNvGrpSpPr/>
          <p:nvPr/>
        </p:nvGrpSpPr>
        <p:grpSpPr>
          <a:xfrm>
            <a:off x="15590579" y="9749080"/>
            <a:ext cx="2137519" cy="475425"/>
            <a:chOff x="30956" y="22078"/>
            <a:chExt cx="2850026" cy="633900"/>
          </a:xfrm>
        </p:grpSpPr>
        <p:cxnSp>
          <p:nvCxnSpPr>
            <p:cNvPr id="355" name="Google Shape;355;p16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62" name="Google Shape;362;p16"/>
          <p:cNvSpPr txBox="1"/>
          <p:nvPr/>
        </p:nvSpPr>
        <p:spPr>
          <a:xfrm>
            <a:off x="1028725" y="1913850"/>
            <a:ext cx="13830600" cy="18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Исполнитель: Чумарев Дмитрий, Vector DB &amp; Embeddings Engineer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Задача: Научить систему понимать смысл запросов и документов.</a:t>
            </a:r>
            <a:endParaRPr sz="24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1211125" y="3618400"/>
            <a:ext cx="13053000" cy="476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16"/>
          <p:cNvSpPr txBox="1"/>
          <p:nvPr/>
        </p:nvSpPr>
        <p:spPr>
          <a:xfrm>
            <a:off x="1417525" y="4091150"/>
            <a:ext cx="13053000" cy="49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Что было сделано: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Протестировано 6 моделей эмбеддингов. Выбрана лучшая: intfloat/multilingual-e5-small (качество 0.857, поддержка русского).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Каждый из 692 чанков преобразован в цифровой «вектор смысла».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Развернуты две параллельные системы поиска (ChromaDB и FAISS) для надежности и скорости.</a:t>
            </a:r>
            <a:b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Результат: Система готова к семантическому поиску по всем материалам.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9" name="Google Shape;369;p17"/>
          <p:cNvCxnSpPr/>
          <p:nvPr/>
        </p:nvCxnSpPr>
        <p:spPr>
          <a:xfrm rot="10800000">
            <a:off x="708796" y="5308800"/>
            <a:ext cx="0" cy="49782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0" name="Google Shape;370;p17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371" name="Google Shape;371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7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374" name="Google Shape;374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7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6" name="Google Shape;376;p17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377" name="Google Shape;377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7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" name="Google Shape;379;p17"/>
          <p:cNvGrpSpPr/>
          <p:nvPr/>
        </p:nvGrpSpPr>
        <p:grpSpPr>
          <a:xfrm>
            <a:off x="532694" y="4967398"/>
            <a:ext cx="352186" cy="352186"/>
            <a:chOff x="0" y="0"/>
            <a:chExt cx="812800" cy="812800"/>
          </a:xfrm>
        </p:grpSpPr>
        <p:sp>
          <p:nvSpPr>
            <p:cNvPr id="380" name="Google Shape;380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7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2" name="Google Shape;382;p17"/>
          <p:cNvSpPr txBox="1"/>
          <p:nvPr/>
        </p:nvSpPr>
        <p:spPr>
          <a:xfrm>
            <a:off x="1028725" y="699775"/>
            <a:ext cx="15765600" cy="6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en-US" sz="48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Этап 3. Мозг системы: RAG-ядро и промпты</a:t>
            </a:r>
            <a:endParaRPr b="1" sz="48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83" name="Google Shape;383;p17"/>
          <p:cNvGrpSpPr/>
          <p:nvPr/>
        </p:nvGrpSpPr>
        <p:grpSpPr>
          <a:xfrm>
            <a:off x="15590579" y="9749080"/>
            <a:ext cx="2137519" cy="475425"/>
            <a:chOff x="30956" y="22078"/>
            <a:chExt cx="2850026" cy="633900"/>
          </a:xfrm>
        </p:grpSpPr>
        <p:cxnSp>
          <p:nvCxnSpPr>
            <p:cNvPr id="384" name="Google Shape;384;p17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5" name="Google Shape;385;p17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6" name="Google Shape;386;p17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7" name="Google Shape;387;p17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8" name="Google Shape;388;p17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9" name="Google Shape;389;p17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0" name="Google Shape;390;p17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91" name="Google Shape;391;p17"/>
          <p:cNvSpPr txBox="1"/>
          <p:nvPr/>
        </p:nvSpPr>
        <p:spPr>
          <a:xfrm>
            <a:off x="1028725" y="1913850"/>
            <a:ext cx="13830600" cy="18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Исполнитель: Ситёв Роман, RAG Core &amp; Prompt Engineer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Задача: Создать логику диалога, которая превращает найденную информацию в полезный ответ.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1211125" y="3618400"/>
            <a:ext cx="13648200" cy="476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17"/>
          <p:cNvSpPr txBox="1"/>
          <p:nvPr/>
        </p:nvSpPr>
        <p:spPr>
          <a:xfrm>
            <a:off x="1508725" y="3947275"/>
            <a:ext cx="13053000" cy="49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Что было сделано: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Разработано ядро, интегрирующее поиск по векторной БД и языковую модель.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Созданы умные шаблоны-промпты для разных сценариев: объяснение темы, ответ на вопрос, генерация проверочных заданий.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Реализовано обязательное цитирование источников для прозрачности и доверия.</a:t>
            </a:r>
            <a:b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24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Результат: AI-репетитор, который не только знает, но и умеет объяснять.</a:t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8" name="Google Shape;398;p18"/>
          <p:cNvCxnSpPr/>
          <p:nvPr/>
        </p:nvCxnSpPr>
        <p:spPr>
          <a:xfrm rot="10800000">
            <a:off x="708796" y="5308800"/>
            <a:ext cx="0" cy="49782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9" name="Google Shape;399;p18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400" name="Google Shape;400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18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403" name="Google Shape;403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406" name="Google Shape;406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8" name="Google Shape;408;p18"/>
          <p:cNvGrpSpPr/>
          <p:nvPr/>
        </p:nvGrpSpPr>
        <p:grpSpPr>
          <a:xfrm>
            <a:off x="532694" y="4967398"/>
            <a:ext cx="352186" cy="352186"/>
            <a:chOff x="0" y="0"/>
            <a:chExt cx="812800" cy="812800"/>
          </a:xfrm>
        </p:grpSpPr>
        <p:sp>
          <p:nvSpPr>
            <p:cNvPr id="409" name="Google Shape;409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1" name="Google Shape;411;p18"/>
          <p:cNvSpPr txBox="1"/>
          <p:nvPr/>
        </p:nvSpPr>
        <p:spPr>
          <a:xfrm>
            <a:off x="1028725" y="699775"/>
            <a:ext cx="15765600" cy="8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en-US" sz="48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Этап 4 &amp; 5. Доступность: Бэкенд и интерфейс</a:t>
            </a:r>
            <a:endParaRPr b="1" sz="48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12" name="Google Shape;412;p18"/>
          <p:cNvGrpSpPr/>
          <p:nvPr/>
        </p:nvGrpSpPr>
        <p:grpSpPr>
          <a:xfrm>
            <a:off x="15590579" y="9749080"/>
            <a:ext cx="2137519" cy="475425"/>
            <a:chOff x="30956" y="22078"/>
            <a:chExt cx="2850026" cy="633900"/>
          </a:xfrm>
        </p:grpSpPr>
        <p:cxnSp>
          <p:nvCxnSpPr>
            <p:cNvPr id="413" name="Google Shape;413;p18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4" name="Google Shape;414;p18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5" name="Google Shape;415;p18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6" name="Google Shape;416;p18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7" name="Google Shape;417;p18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8" name="Google Shape;418;p18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9" name="Google Shape;419;p18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20" name="Google Shape;420;p18"/>
          <p:cNvSpPr txBox="1"/>
          <p:nvPr/>
        </p:nvSpPr>
        <p:spPr>
          <a:xfrm>
            <a:off x="1028725" y="1913850"/>
            <a:ext cx="13830600" cy="18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Исполнители: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Голунов Артем (Backend &amp; API): Разработал сервер на Flask с надежным API (/ask, /generate_questions, /recommend). Обеспечил логирование и безопасность.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Бикбулатова Айгуль (UI/UX): Создала интуитивно понятный интерфейс Telegram-бота, через который пользователи получают весь функционал.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1119925" y="5417850"/>
            <a:ext cx="12232200" cy="1642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18"/>
          <p:cNvSpPr txBox="1"/>
          <p:nvPr/>
        </p:nvSpPr>
        <p:spPr>
          <a:xfrm>
            <a:off x="1928800" y="5759100"/>
            <a:ext cx="109599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Результат: Готовый к использованию продукт с простой точкой входа – Telegram.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7" name="Google Shape;427;p19"/>
          <p:cNvCxnSpPr/>
          <p:nvPr/>
        </p:nvCxnSpPr>
        <p:spPr>
          <a:xfrm rot="10800000">
            <a:off x="708796" y="5308800"/>
            <a:ext cx="0" cy="49782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8" name="Google Shape;428;p19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429" name="Google Shape;429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9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1" name="Google Shape;431;p19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432" name="Google Shape;432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9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p19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435" name="Google Shape;435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9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9"/>
          <p:cNvGrpSpPr/>
          <p:nvPr/>
        </p:nvGrpSpPr>
        <p:grpSpPr>
          <a:xfrm>
            <a:off x="532694" y="4967398"/>
            <a:ext cx="352186" cy="352186"/>
            <a:chOff x="0" y="0"/>
            <a:chExt cx="812800" cy="812800"/>
          </a:xfrm>
        </p:grpSpPr>
        <p:sp>
          <p:nvSpPr>
            <p:cNvPr id="438" name="Google Shape;438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9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9"/>
          <p:cNvSpPr txBox="1"/>
          <p:nvPr/>
        </p:nvSpPr>
        <p:spPr>
          <a:xfrm>
            <a:off x="1028725" y="699775"/>
            <a:ext cx="15765600" cy="9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lt2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en-US" sz="4800">
                <a:solidFill>
                  <a:schemeClr val="lt2"/>
                </a:solidFill>
                <a:latin typeface="Comfortaa"/>
                <a:ea typeface="Comfortaa"/>
                <a:cs typeface="Comfortaa"/>
                <a:sym typeface="Comfortaa"/>
              </a:rPr>
              <a:t>Этап 6. Улучшение опыта: Дополнительные функции</a:t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41" name="Google Shape;441;p19"/>
          <p:cNvGrpSpPr/>
          <p:nvPr/>
        </p:nvGrpSpPr>
        <p:grpSpPr>
          <a:xfrm>
            <a:off x="15590579" y="9749080"/>
            <a:ext cx="2137519" cy="475425"/>
            <a:chOff x="30956" y="22078"/>
            <a:chExt cx="2850026" cy="633900"/>
          </a:xfrm>
        </p:grpSpPr>
        <p:cxnSp>
          <p:nvCxnSpPr>
            <p:cNvPr id="442" name="Google Shape;442;p19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3" name="Google Shape;443;p19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4" name="Google Shape;444;p19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5" name="Google Shape;445;p19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6" name="Google Shape;446;p19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7" name="Google Shape;447;p19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8" name="Google Shape;448;p19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49" name="Google Shape;449;p19"/>
          <p:cNvSpPr txBox="1"/>
          <p:nvPr/>
        </p:nvSpPr>
        <p:spPr>
          <a:xfrm>
            <a:off x="1028725" y="2935575"/>
            <a:ext cx="13830600" cy="1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Исполнитель: Булахов Юрий, Advanced Features &amp; UI Integration Developer</a:t>
            </a:r>
            <a:endParaRPr sz="2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Задача: Превратить репетитора из справочника в активного помощника.</a:t>
            </a:r>
            <a:endParaRPr sz="2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1028725" y="4309250"/>
            <a:ext cx="13648200" cy="388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1" name="Google Shape;451;p19"/>
          <p:cNvSpPr txBox="1"/>
          <p:nvPr/>
        </p:nvSpPr>
        <p:spPr>
          <a:xfrm>
            <a:off x="1420450" y="4530475"/>
            <a:ext cx="12948600" cy="28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Что было сделано: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Генерация вопросов для самопроверки – помогает закрепить материал.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Система рекомендаций – предлагает связанные темы для углубления знаний.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Кэширование – ускоряет ответы на популярные запросы.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Оценка ответов – сбор обратной связи для улучшения системы.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20"/>
          <p:cNvCxnSpPr/>
          <p:nvPr/>
        </p:nvCxnSpPr>
        <p:spPr>
          <a:xfrm rot="10800000">
            <a:off x="708796" y="5308800"/>
            <a:ext cx="0" cy="497820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57" name="Google Shape;457;p20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458" name="Google Shape;458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0" name="Google Shape;460;p20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461" name="Google Shape;461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3" name="Google Shape;463;p20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464" name="Google Shape;464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6" name="Google Shape;466;p20"/>
          <p:cNvGrpSpPr/>
          <p:nvPr/>
        </p:nvGrpSpPr>
        <p:grpSpPr>
          <a:xfrm>
            <a:off x="532694" y="4967398"/>
            <a:ext cx="352186" cy="352186"/>
            <a:chOff x="0" y="0"/>
            <a:chExt cx="812800" cy="812800"/>
          </a:xfrm>
        </p:grpSpPr>
        <p:sp>
          <p:nvSpPr>
            <p:cNvPr id="467" name="Google Shape;467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0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9" name="Google Shape;469;p20"/>
          <p:cNvSpPr txBox="1"/>
          <p:nvPr/>
        </p:nvSpPr>
        <p:spPr>
          <a:xfrm>
            <a:off x="1028725" y="699775"/>
            <a:ext cx="15765600" cy="9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lt2"/>
                </a:solidFill>
                <a:latin typeface="Comfortaa"/>
                <a:ea typeface="Comfortaa"/>
                <a:cs typeface="Comfortaa"/>
                <a:sym typeface="Comfortaa"/>
              </a:rPr>
              <a:t>Этап 7. Готовый продукт: Интеграция и тестирование</a:t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chemeClr val="l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70" name="Google Shape;470;p20"/>
          <p:cNvGrpSpPr/>
          <p:nvPr/>
        </p:nvGrpSpPr>
        <p:grpSpPr>
          <a:xfrm>
            <a:off x="15590579" y="9749080"/>
            <a:ext cx="2137519" cy="475425"/>
            <a:chOff x="30956" y="22078"/>
            <a:chExt cx="2850026" cy="633900"/>
          </a:xfrm>
        </p:grpSpPr>
        <p:cxnSp>
          <p:nvCxnSpPr>
            <p:cNvPr id="471" name="Google Shape;471;p20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2" name="Google Shape;472;p20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3" name="Google Shape;473;p20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4" name="Google Shape;474;p20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5" name="Google Shape;475;p20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6" name="Google Shape;476;p20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7" name="Google Shape;477;p20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78" name="Google Shape;478;p20"/>
          <p:cNvSpPr txBox="1"/>
          <p:nvPr/>
        </p:nvSpPr>
        <p:spPr>
          <a:xfrm>
            <a:off x="1028725" y="2799400"/>
            <a:ext cx="13830600" cy="18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Исполнитель: Ворошнина Анна, Integration, Testing &amp; Demo Manager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Задача: Свести все компоненты в единое, стабильное решение и подготовить его к внедрению.</a:t>
            </a:r>
            <a:endParaRPr sz="24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1028725" y="4309250"/>
            <a:ext cx="13648200" cy="330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0" name="Google Shape;480;p20"/>
          <p:cNvSpPr txBox="1"/>
          <p:nvPr/>
        </p:nvSpPr>
        <p:spPr>
          <a:xfrm>
            <a:off x="1326325" y="4486800"/>
            <a:ext cx="13053000" cy="49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Что было сделано: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Сквозная сборка и тестирование всего пайплайна.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Написана полная документация (README, инструкции по запуску).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Подготовлена демо-среда и данная презентация.</a:t>
            </a:r>
            <a:b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Результат: Полностью работоспособный MVP, готовый к демонстрации заказчику.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9546" y="5181309"/>
            <a:ext cx="593850" cy="2987617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1"/>
          <p:cNvSpPr txBox="1"/>
          <p:nvPr/>
        </p:nvSpPr>
        <p:spPr>
          <a:xfrm>
            <a:off x="896575" y="1425600"/>
            <a:ext cx="120669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Ключевые метрики и результаты</a:t>
            </a:r>
            <a:endParaRPr b="1" sz="48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87" name="Google Shape;487;p21"/>
          <p:cNvCxnSpPr/>
          <p:nvPr/>
        </p:nvCxnSpPr>
        <p:spPr>
          <a:xfrm>
            <a:off x="0" y="813642"/>
            <a:ext cx="7948735" cy="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8" name="Google Shape;488;p21"/>
          <p:cNvGrpSpPr/>
          <p:nvPr/>
        </p:nvGrpSpPr>
        <p:grpSpPr>
          <a:xfrm>
            <a:off x="896603" y="493738"/>
            <a:ext cx="1871770" cy="639807"/>
            <a:chOff x="0" y="0"/>
            <a:chExt cx="2495693" cy="853076"/>
          </a:xfrm>
        </p:grpSpPr>
        <p:grpSp>
          <p:nvGrpSpPr>
            <p:cNvPr id="489" name="Google Shape;489;p21"/>
            <p:cNvGrpSpPr/>
            <p:nvPr/>
          </p:nvGrpSpPr>
          <p:grpSpPr>
            <a:xfrm rot="5400000">
              <a:off x="0" y="0"/>
              <a:ext cx="853076" cy="853076"/>
              <a:chOff x="0" y="0"/>
              <a:chExt cx="812800" cy="812800"/>
            </a:xfrm>
          </p:grpSpPr>
          <p:sp>
            <p:nvSpPr>
              <p:cNvPr id="490" name="Google Shape;490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2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2" name="Google Shape;492;p21"/>
            <p:cNvGrpSpPr/>
            <p:nvPr/>
          </p:nvGrpSpPr>
          <p:grpSpPr>
            <a:xfrm rot="5400000">
              <a:off x="1105041" y="91998"/>
              <a:ext cx="669081" cy="669081"/>
              <a:chOff x="0" y="0"/>
              <a:chExt cx="812800" cy="812800"/>
            </a:xfrm>
          </p:grpSpPr>
          <p:sp>
            <p:nvSpPr>
              <p:cNvPr id="493" name="Google Shape;493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2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5" name="Google Shape;495;p21"/>
            <p:cNvGrpSpPr/>
            <p:nvPr/>
          </p:nvGrpSpPr>
          <p:grpSpPr>
            <a:xfrm rot="5400000">
              <a:off x="2026087" y="191735"/>
              <a:ext cx="469606" cy="469606"/>
              <a:chOff x="0" y="0"/>
              <a:chExt cx="812800" cy="812800"/>
            </a:xfrm>
          </p:grpSpPr>
          <p:sp>
            <p:nvSpPr>
              <p:cNvPr id="496" name="Google Shape;496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2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8" name="Google Shape;498;p21"/>
          <p:cNvGrpSpPr/>
          <p:nvPr/>
        </p:nvGrpSpPr>
        <p:grpSpPr>
          <a:xfrm rot="5400000">
            <a:off x="7796313" y="637540"/>
            <a:ext cx="352204" cy="352204"/>
            <a:chOff x="0" y="0"/>
            <a:chExt cx="812800" cy="812800"/>
          </a:xfrm>
        </p:grpSpPr>
        <p:sp>
          <p:nvSpPr>
            <p:cNvPr id="499" name="Google Shape;499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1" name="Google Shape;501;p21"/>
          <p:cNvGrpSpPr/>
          <p:nvPr/>
        </p:nvGrpSpPr>
        <p:grpSpPr>
          <a:xfrm>
            <a:off x="15618305" y="1755"/>
            <a:ext cx="2137482" cy="475324"/>
            <a:chOff x="30956" y="22212"/>
            <a:chExt cx="2849976" cy="633766"/>
          </a:xfrm>
        </p:grpSpPr>
        <p:cxnSp>
          <p:nvCxnSpPr>
            <p:cNvPr id="502" name="Google Shape;502;p21"/>
            <p:cNvCxnSpPr/>
            <p:nvPr/>
          </p:nvCxnSpPr>
          <p:spPr>
            <a:xfrm flipH="1" rot="10800000">
              <a:off x="30956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3" name="Google Shape;503;p21"/>
            <p:cNvCxnSpPr/>
            <p:nvPr/>
          </p:nvCxnSpPr>
          <p:spPr>
            <a:xfrm flipH="1" rot="10800000">
              <a:off x="430160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4" name="Google Shape;504;p21"/>
            <p:cNvCxnSpPr/>
            <p:nvPr/>
          </p:nvCxnSpPr>
          <p:spPr>
            <a:xfrm flipH="1" rot="10800000">
              <a:off x="829364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5" name="Google Shape;505;p21"/>
            <p:cNvCxnSpPr/>
            <p:nvPr/>
          </p:nvCxnSpPr>
          <p:spPr>
            <a:xfrm flipH="1" rot="10800000">
              <a:off x="1228569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6" name="Google Shape;506;p21"/>
            <p:cNvCxnSpPr/>
            <p:nvPr/>
          </p:nvCxnSpPr>
          <p:spPr>
            <a:xfrm flipH="1" rot="10800000">
              <a:off x="1627773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7" name="Google Shape;507;p21"/>
            <p:cNvCxnSpPr/>
            <p:nvPr/>
          </p:nvCxnSpPr>
          <p:spPr>
            <a:xfrm flipH="1" rot="10800000">
              <a:off x="2026977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8" name="Google Shape;508;p21"/>
            <p:cNvCxnSpPr/>
            <p:nvPr/>
          </p:nvCxnSpPr>
          <p:spPr>
            <a:xfrm flipH="1" rot="10800000">
              <a:off x="2426182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09" name="Google Shape;509;p21"/>
          <p:cNvGrpSpPr/>
          <p:nvPr/>
        </p:nvGrpSpPr>
        <p:grpSpPr>
          <a:xfrm rot="5400000">
            <a:off x="-814419" y="7426244"/>
            <a:ext cx="2137482" cy="475324"/>
            <a:chOff x="30956" y="22212"/>
            <a:chExt cx="2849976" cy="633766"/>
          </a:xfrm>
        </p:grpSpPr>
        <p:cxnSp>
          <p:nvCxnSpPr>
            <p:cNvPr id="510" name="Google Shape;510;p21"/>
            <p:cNvCxnSpPr/>
            <p:nvPr/>
          </p:nvCxnSpPr>
          <p:spPr>
            <a:xfrm flipH="1" rot="10800000">
              <a:off x="30956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1" name="Google Shape;511;p21"/>
            <p:cNvCxnSpPr/>
            <p:nvPr/>
          </p:nvCxnSpPr>
          <p:spPr>
            <a:xfrm flipH="1" rot="10800000">
              <a:off x="430160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2" name="Google Shape;512;p21"/>
            <p:cNvCxnSpPr/>
            <p:nvPr/>
          </p:nvCxnSpPr>
          <p:spPr>
            <a:xfrm flipH="1" rot="10800000">
              <a:off x="829364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3" name="Google Shape;513;p21"/>
            <p:cNvCxnSpPr/>
            <p:nvPr/>
          </p:nvCxnSpPr>
          <p:spPr>
            <a:xfrm flipH="1" rot="10800000">
              <a:off x="1228569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4" name="Google Shape;514;p21"/>
            <p:cNvCxnSpPr/>
            <p:nvPr/>
          </p:nvCxnSpPr>
          <p:spPr>
            <a:xfrm flipH="1" rot="10800000">
              <a:off x="1627773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5" name="Google Shape;515;p21"/>
            <p:cNvCxnSpPr/>
            <p:nvPr/>
          </p:nvCxnSpPr>
          <p:spPr>
            <a:xfrm flipH="1" rot="10800000">
              <a:off x="2026977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6" name="Google Shape;516;p21"/>
            <p:cNvCxnSpPr/>
            <p:nvPr/>
          </p:nvCxnSpPr>
          <p:spPr>
            <a:xfrm flipH="1" rot="10800000">
              <a:off x="2426182" y="22212"/>
              <a:ext cx="454750" cy="633766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17" name="Google Shape;517;p21"/>
          <p:cNvSpPr/>
          <p:nvPr/>
        </p:nvSpPr>
        <p:spPr>
          <a:xfrm>
            <a:off x="956950" y="2863350"/>
            <a:ext cx="11273700" cy="45603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21"/>
          <p:cNvSpPr txBox="1"/>
          <p:nvPr/>
        </p:nvSpPr>
        <p:spPr>
          <a:xfrm>
            <a:off x="1659475" y="3289450"/>
            <a:ext cx="10541100" cy="43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Обработано материалов: 692 смысловых чанка из руководств </a:t>
            </a:r>
            <a:r>
              <a:rPr lang="en-US" sz="2400">
                <a:solidFill>
                  <a:srgbClr val="0C0F27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Cloud.ru</a:t>
            </a: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 Evolution.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Точность поиска: Подобрана и внедрена модель эмбеддингов с качеством 0.857.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Функциональность: Ответы на вопросы, генерация тестов, рекомендации, цитирование источников.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Канал доставки: Удобный Telegram-бот.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Архитектура: Масштабируемый RAG-пайплайн, готовый к подключению новых учебных курсов.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9546" y="5181309"/>
            <a:ext cx="593850" cy="2987617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2"/>
          <p:cNvSpPr txBox="1"/>
          <p:nvPr/>
        </p:nvSpPr>
        <p:spPr>
          <a:xfrm>
            <a:off x="896575" y="1425600"/>
            <a:ext cx="16761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rgbClr val="F9FAFB"/>
                </a:solidFill>
                <a:latin typeface="Comfortaa"/>
                <a:ea typeface="Comfortaa"/>
                <a:cs typeface="Comfortaa"/>
                <a:sym typeface="Comfortaa"/>
              </a:rPr>
              <a:t>Дальнейшее развитие и масштабируемость</a:t>
            </a:r>
            <a:endParaRPr b="1" sz="4800">
              <a:solidFill>
                <a:srgbClr val="F9FAFB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25" name="Google Shape;525;p22"/>
          <p:cNvCxnSpPr/>
          <p:nvPr/>
        </p:nvCxnSpPr>
        <p:spPr>
          <a:xfrm>
            <a:off x="0" y="813642"/>
            <a:ext cx="7948800" cy="0"/>
          </a:xfrm>
          <a:prstGeom prst="straightConnector1">
            <a:avLst/>
          </a:prstGeom>
          <a:noFill/>
          <a:ln cap="flat" cmpd="sng" w="38100">
            <a:solidFill>
              <a:srgbClr val="FFBD4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26" name="Google Shape;526;p22"/>
          <p:cNvGrpSpPr/>
          <p:nvPr/>
        </p:nvGrpSpPr>
        <p:grpSpPr>
          <a:xfrm>
            <a:off x="896574" y="493738"/>
            <a:ext cx="1871799" cy="639836"/>
            <a:chOff x="-39" y="0"/>
            <a:chExt cx="2495732" cy="853115"/>
          </a:xfrm>
        </p:grpSpPr>
        <p:grpSp>
          <p:nvGrpSpPr>
            <p:cNvPr id="527" name="Google Shape;527;p22"/>
            <p:cNvGrpSpPr/>
            <p:nvPr/>
          </p:nvGrpSpPr>
          <p:grpSpPr>
            <a:xfrm rot="5400000">
              <a:off x="-39" y="0"/>
              <a:ext cx="853115" cy="853115"/>
              <a:chOff x="0" y="0"/>
              <a:chExt cx="812800" cy="812800"/>
            </a:xfrm>
          </p:grpSpPr>
          <p:sp>
            <p:nvSpPr>
              <p:cNvPr id="528" name="Google Shape;528;p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22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0" name="Google Shape;530;p22"/>
            <p:cNvGrpSpPr/>
            <p:nvPr/>
          </p:nvGrpSpPr>
          <p:grpSpPr>
            <a:xfrm rot="5400000">
              <a:off x="1105025" y="91998"/>
              <a:ext cx="669097" cy="669097"/>
              <a:chOff x="0" y="0"/>
              <a:chExt cx="812800" cy="812800"/>
            </a:xfrm>
          </p:grpSpPr>
          <p:sp>
            <p:nvSpPr>
              <p:cNvPr id="531" name="Google Shape;531;p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22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p22"/>
            <p:cNvGrpSpPr/>
            <p:nvPr/>
          </p:nvGrpSpPr>
          <p:grpSpPr>
            <a:xfrm rot="5400000">
              <a:off x="2026057" y="191735"/>
              <a:ext cx="469636" cy="469636"/>
              <a:chOff x="0" y="0"/>
              <a:chExt cx="812800" cy="812800"/>
            </a:xfrm>
          </p:grpSpPr>
          <p:sp>
            <p:nvSpPr>
              <p:cNvPr id="534" name="Google Shape;534;p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22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6" name="Google Shape;536;p22"/>
          <p:cNvGrpSpPr/>
          <p:nvPr/>
        </p:nvGrpSpPr>
        <p:grpSpPr>
          <a:xfrm rot="5400000">
            <a:off x="7796331" y="637540"/>
            <a:ext cx="352186" cy="352186"/>
            <a:chOff x="0" y="0"/>
            <a:chExt cx="812800" cy="812800"/>
          </a:xfrm>
        </p:grpSpPr>
        <p:sp>
          <p:nvSpPr>
            <p:cNvPr id="537" name="Google Shape;537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2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9" name="Google Shape;539;p22"/>
          <p:cNvGrpSpPr/>
          <p:nvPr/>
        </p:nvGrpSpPr>
        <p:grpSpPr>
          <a:xfrm>
            <a:off x="15618305" y="1655"/>
            <a:ext cx="2137519" cy="475425"/>
            <a:chOff x="30956" y="22078"/>
            <a:chExt cx="2850026" cy="633900"/>
          </a:xfrm>
        </p:grpSpPr>
        <p:cxnSp>
          <p:nvCxnSpPr>
            <p:cNvPr id="540" name="Google Shape;540;p22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1" name="Google Shape;541;p22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2" name="Google Shape;542;p22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3" name="Google Shape;543;p22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4" name="Google Shape;544;p22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5" name="Google Shape;545;p22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6" name="Google Shape;546;p22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47" name="Google Shape;547;p22"/>
          <p:cNvGrpSpPr/>
          <p:nvPr/>
        </p:nvGrpSpPr>
        <p:grpSpPr>
          <a:xfrm rot="5400000">
            <a:off x="-814388" y="7426212"/>
            <a:ext cx="2137520" cy="475425"/>
            <a:chOff x="30956" y="22078"/>
            <a:chExt cx="2850026" cy="633900"/>
          </a:xfrm>
        </p:grpSpPr>
        <p:cxnSp>
          <p:nvCxnSpPr>
            <p:cNvPr id="548" name="Google Shape;548;p22"/>
            <p:cNvCxnSpPr/>
            <p:nvPr/>
          </p:nvCxnSpPr>
          <p:spPr>
            <a:xfrm flipH="1" rot="10800000">
              <a:off x="30956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9" name="Google Shape;549;p22"/>
            <p:cNvCxnSpPr/>
            <p:nvPr/>
          </p:nvCxnSpPr>
          <p:spPr>
            <a:xfrm flipH="1" rot="10800000">
              <a:off x="430160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0" name="Google Shape;550;p22"/>
            <p:cNvCxnSpPr/>
            <p:nvPr/>
          </p:nvCxnSpPr>
          <p:spPr>
            <a:xfrm flipH="1" rot="10800000">
              <a:off x="829364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1" name="Google Shape;551;p22"/>
            <p:cNvCxnSpPr/>
            <p:nvPr/>
          </p:nvCxnSpPr>
          <p:spPr>
            <a:xfrm flipH="1" rot="10800000">
              <a:off x="1228569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2" name="Google Shape;552;p22"/>
            <p:cNvCxnSpPr/>
            <p:nvPr/>
          </p:nvCxnSpPr>
          <p:spPr>
            <a:xfrm flipH="1" rot="10800000">
              <a:off x="1627773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3" name="Google Shape;553;p22"/>
            <p:cNvCxnSpPr/>
            <p:nvPr/>
          </p:nvCxnSpPr>
          <p:spPr>
            <a:xfrm flipH="1" rot="10800000">
              <a:off x="2026977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4" name="Google Shape;554;p22"/>
            <p:cNvCxnSpPr/>
            <p:nvPr/>
          </p:nvCxnSpPr>
          <p:spPr>
            <a:xfrm flipH="1" rot="10800000">
              <a:off x="2426182" y="22078"/>
              <a:ext cx="454800" cy="633900"/>
            </a:xfrm>
            <a:prstGeom prst="straightConnector1">
              <a:avLst/>
            </a:prstGeom>
            <a:noFill/>
            <a:ln cap="flat" cmpd="sng" w="76200">
              <a:solidFill>
                <a:srgbClr val="FFBD4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55" name="Google Shape;555;p22"/>
          <p:cNvSpPr/>
          <p:nvPr/>
        </p:nvSpPr>
        <p:spPr>
          <a:xfrm>
            <a:off x="956950" y="2863350"/>
            <a:ext cx="11273700" cy="45603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6" name="Google Shape;556;p22"/>
          <p:cNvSpPr txBox="1"/>
          <p:nvPr/>
        </p:nvSpPr>
        <p:spPr>
          <a:xfrm>
            <a:off x="1323250" y="3087450"/>
            <a:ext cx="10541100" cy="43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Наш MVP заложил основу для роста: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Новые предметы: Архитектура позволяет быстро подключать новые учебные курсы.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Расширение каналов: Готовы к разработке web-интерфейса (Gradio/Streamlit).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Углубление персонализации: Возможность внедрить адаптивные сценарии обучения.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F27"/>
              </a:buClr>
              <a:buSzPts val="2400"/>
              <a:buFont typeface="Comfortaa"/>
              <a:buChar char="●"/>
            </a:pPr>
            <a:r>
              <a:rPr lang="en-US" sz="2400">
                <a:solidFill>
                  <a:srgbClr val="0C0F27"/>
                </a:solidFill>
                <a:latin typeface="Comfortaa"/>
                <a:ea typeface="Comfortaa"/>
                <a:cs typeface="Comfortaa"/>
                <a:sym typeface="Comfortaa"/>
              </a:rPr>
              <a:t>Интеграция: Потенциал для подключения голосовых и визуальных помощников.</a:t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C0F2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F27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947" y="8089937"/>
            <a:ext cx="1430300" cy="1381609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23"/>
          <p:cNvSpPr txBox="1"/>
          <p:nvPr/>
        </p:nvSpPr>
        <p:spPr>
          <a:xfrm>
            <a:off x="910800" y="928750"/>
            <a:ext cx="10318200" cy="85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Команда </a:t>
            </a:r>
            <a:r>
              <a:rPr lang="en-US" sz="24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«НейроЭмоции» </a:t>
            </a:r>
            <a:r>
              <a:rPr b="1" lang="en-US" sz="24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благодарит за внимание!</a:t>
            </a:r>
            <a:br>
              <a:rPr b="1" lang="en-US" sz="24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b="1" lang="en-US" sz="24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Готовы ответить на ваши вопросы.</a:t>
            </a:r>
            <a:endParaRPr b="1" sz="2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  <a:t>Ссылка на репозиторий с кодом и документацией:</a:t>
            </a:r>
            <a:br>
              <a:rPr lang="en-US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-US">
                <a:solidFill>
                  <a:srgbClr val="FFBD4C"/>
                </a:solidFill>
                <a:latin typeface="Comfortaa"/>
                <a:ea typeface="Comfortaa"/>
                <a:cs typeface="Comfortaa"/>
                <a:sym typeface="Comfortaa"/>
              </a:rPr>
              <a:t>Ссылка на текстовый отчет по этапам работы: </a:t>
            </a:r>
            <a:endParaRPr>
              <a:solidFill>
                <a:srgbClr val="FFBD4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t/>
            </a:r>
            <a:endParaRPr sz="9000">
              <a:solidFill>
                <a:srgbClr val="FFBD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ade Marketing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FFBD4C"/>
      </a:lt2>
      <a:accent1>
        <a:srgbClr val="4E77A7"/>
      </a:accent1>
      <a:accent2>
        <a:srgbClr val="0C0F27"/>
      </a:accent2>
      <a:accent3>
        <a:srgbClr val="FFFFFF"/>
      </a:accent3>
      <a:accent4>
        <a:srgbClr val="888888"/>
      </a:accent4>
      <a:accent5>
        <a:srgbClr val="FFBD4C"/>
      </a:accent5>
      <a:accent6>
        <a:srgbClr val="4E77A7"/>
      </a:accent6>
      <a:hlink>
        <a:srgbClr val="0C0F2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